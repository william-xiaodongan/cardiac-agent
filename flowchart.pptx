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7"/>
  </p:notesMasterIdLst>
  <p:sldIdLst>
    <p:sldId id="258" r:id="rId5"/>
    <p:sldId id="259" r:id="rId6"/>
  </p:sldIdLst>
  <p:sldSz cx="27432000" cy="27432000"/>
  <p:notesSz cx="6858000" cy="9144000"/>
  <p:defaultTextStyle>
    <a:defPPr>
      <a:defRPr lang="en-US"/>
    </a:defPPr>
    <a:lvl1pPr marL="0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2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3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5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66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08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49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91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32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86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04F15"/>
    <a:srgbClr val="FFE5E5"/>
    <a:srgbClr val="FFF5FC"/>
    <a:srgbClr val="E59EDD"/>
    <a:srgbClr val="D86ECC"/>
    <a:srgbClr val="84E291"/>
    <a:srgbClr val="47D45A"/>
    <a:srgbClr val="F6C6AD"/>
    <a:srgbClr val="F5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7" autoAdjust="0"/>
    <p:restoredTop sz="91865" autoAdjust="0"/>
  </p:normalViewPr>
  <p:slideViewPr>
    <p:cSldViewPr snapToGrid="0">
      <p:cViewPr varScale="1">
        <p:scale>
          <a:sx n="35" d="100"/>
          <a:sy n="35" d="100"/>
        </p:scale>
        <p:origin x="2604" y="132"/>
      </p:cViewPr>
      <p:guideLst>
        <p:guide orient="horz" pos="8640"/>
        <p:guide pos="86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AD860-6EA9-4119-A999-7E65F9394C2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62E4E-FD9A-47D0-96B9-D05EB556C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06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1pPr>
    <a:lvl2pPr marL="1316089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2pPr>
    <a:lvl3pPr marL="2632183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3pPr>
    <a:lvl4pPr marL="3948272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4pPr>
    <a:lvl5pPr marL="5264361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5pPr>
    <a:lvl6pPr marL="6580454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6pPr>
    <a:lvl7pPr marL="7896545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7pPr>
    <a:lvl8pPr marL="9212634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8pPr>
    <a:lvl9pPr marL="10528727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4489452"/>
            <a:ext cx="23317200" cy="9550400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14408152"/>
            <a:ext cx="20574000" cy="6623048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17" indent="0" algn="ctr">
              <a:buNone/>
              <a:defRPr sz="6000"/>
            </a:lvl2pPr>
            <a:lvl3pPr marL="2743234" indent="0" algn="ctr">
              <a:buNone/>
              <a:defRPr sz="5400"/>
            </a:lvl3pPr>
            <a:lvl4pPr marL="4114851" indent="0" algn="ctr">
              <a:buNone/>
              <a:defRPr sz="4800"/>
            </a:lvl4pPr>
            <a:lvl5pPr marL="5486469" indent="0" algn="ctr">
              <a:buNone/>
              <a:defRPr sz="4800"/>
            </a:lvl5pPr>
            <a:lvl6pPr marL="6858086" indent="0" algn="ctr">
              <a:buNone/>
              <a:defRPr sz="4800"/>
            </a:lvl6pPr>
            <a:lvl7pPr marL="8229703" indent="0" algn="ctr">
              <a:buNone/>
              <a:defRPr sz="4800"/>
            </a:lvl7pPr>
            <a:lvl8pPr marL="9601320" indent="0" algn="ctr">
              <a:buNone/>
              <a:defRPr sz="4800"/>
            </a:lvl8pPr>
            <a:lvl9pPr marL="10972937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8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0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6838958"/>
            <a:ext cx="23660100" cy="11410948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18357858"/>
            <a:ext cx="23660100" cy="6000748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17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34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51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69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86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703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32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937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5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7302500"/>
            <a:ext cx="116586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7302500"/>
            <a:ext cx="116586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4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460506"/>
            <a:ext cx="2366010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6724652"/>
            <a:ext cx="11605020" cy="3295648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17" indent="0">
              <a:buNone/>
              <a:defRPr sz="6000" b="1"/>
            </a:lvl2pPr>
            <a:lvl3pPr marL="2743234" indent="0">
              <a:buNone/>
              <a:defRPr sz="5400" b="1"/>
            </a:lvl3pPr>
            <a:lvl4pPr marL="4114851" indent="0">
              <a:buNone/>
              <a:defRPr sz="4800" b="1"/>
            </a:lvl4pPr>
            <a:lvl5pPr marL="5486469" indent="0">
              <a:buNone/>
              <a:defRPr sz="4800" b="1"/>
            </a:lvl5pPr>
            <a:lvl6pPr marL="6858086" indent="0">
              <a:buNone/>
              <a:defRPr sz="4800" b="1"/>
            </a:lvl6pPr>
            <a:lvl7pPr marL="8229703" indent="0">
              <a:buNone/>
              <a:defRPr sz="4800" b="1"/>
            </a:lvl7pPr>
            <a:lvl8pPr marL="9601320" indent="0">
              <a:buNone/>
              <a:defRPr sz="4800" b="1"/>
            </a:lvl8pPr>
            <a:lvl9pPr marL="10972937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10020300"/>
            <a:ext cx="11605020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3" y="6724652"/>
            <a:ext cx="11662173" cy="3295648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17" indent="0">
              <a:buNone/>
              <a:defRPr sz="6000" b="1"/>
            </a:lvl2pPr>
            <a:lvl3pPr marL="2743234" indent="0">
              <a:buNone/>
              <a:defRPr sz="5400" b="1"/>
            </a:lvl3pPr>
            <a:lvl4pPr marL="4114851" indent="0">
              <a:buNone/>
              <a:defRPr sz="4800" b="1"/>
            </a:lvl4pPr>
            <a:lvl5pPr marL="5486469" indent="0">
              <a:buNone/>
              <a:defRPr sz="4800" b="1"/>
            </a:lvl5pPr>
            <a:lvl6pPr marL="6858086" indent="0">
              <a:buNone/>
              <a:defRPr sz="4800" b="1"/>
            </a:lvl6pPr>
            <a:lvl7pPr marL="8229703" indent="0">
              <a:buNone/>
              <a:defRPr sz="4800" b="1"/>
            </a:lvl7pPr>
            <a:lvl8pPr marL="9601320" indent="0">
              <a:buNone/>
              <a:defRPr sz="4800" b="1"/>
            </a:lvl8pPr>
            <a:lvl9pPr marL="10972937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3" y="10020300"/>
            <a:ext cx="11662173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4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1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828800"/>
            <a:ext cx="8847534" cy="64008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3949706"/>
            <a:ext cx="13887450" cy="19494500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8229600"/>
            <a:ext cx="8847534" cy="15246352"/>
          </a:xfrm>
        </p:spPr>
        <p:txBody>
          <a:bodyPr/>
          <a:lstStyle>
            <a:lvl1pPr marL="0" indent="0">
              <a:buNone/>
              <a:defRPr sz="4800"/>
            </a:lvl1pPr>
            <a:lvl2pPr marL="1371617" indent="0">
              <a:buNone/>
              <a:defRPr sz="4200"/>
            </a:lvl2pPr>
            <a:lvl3pPr marL="2743234" indent="0">
              <a:buNone/>
              <a:defRPr sz="3600"/>
            </a:lvl3pPr>
            <a:lvl4pPr marL="4114851" indent="0">
              <a:buNone/>
              <a:defRPr sz="3000"/>
            </a:lvl4pPr>
            <a:lvl5pPr marL="5486469" indent="0">
              <a:buNone/>
              <a:defRPr sz="3000"/>
            </a:lvl5pPr>
            <a:lvl6pPr marL="6858086" indent="0">
              <a:buNone/>
              <a:defRPr sz="3000"/>
            </a:lvl6pPr>
            <a:lvl7pPr marL="8229703" indent="0">
              <a:buNone/>
              <a:defRPr sz="3000"/>
            </a:lvl7pPr>
            <a:lvl8pPr marL="9601320" indent="0">
              <a:buNone/>
              <a:defRPr sz="3000"/>
            </a:lvl8pPr>
            <a:lvl9pPr marL="10972937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828800"/>
            <a:ext cx="8847534" cy="64008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3949706"/>
            <a:ext cx="13887450" cy="19494500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17" indent="0">
              <a:buNone/>
              <a:defRPr sz="8400"/>
            </a:lvl2pPr>
            <a:lvl3pPr marL="2743234" indent="0">
              <a:buNone/>
              <a:defRPr sz="7200"/>
            </a:lvl3pPr>
            <a:lvl4pPr marL="4114851" indent="0">
              <a:buNone/>
              <a:defRPr sz="6000"/>
            </a:lvl4pPr>
            <a:lvl5pPr marL="5486469" indent="0">
              <a:buNone/>
              <a:defRPr sz="6000"/>
            </a:lvl5pPr>
            <a:lvl6pPr marL="6858086" indent="0">
              <a:buNone/>
              <a:defRPr sz="6000"/>
            </a:lvl6pPr>
            <a:lvl7pPr marL="8229703" indent="0">
              <a:buNone/>
              <a:defRPr sz="6000"/>
            </a:lvl7pPr>
            <a:lvl8pPr marL="9601320" indent="0">
              <a:buNone/>
              <a:defRPr sz="6000"/>
            </a:lvl8pPr>
            <a:lvl9pPr marL="10972937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8229600"/>
            <a:ext cx="8847534" cy="15246352"/>
          </a:xfrm>
        </p:spPr>
        <p:txBody>
          <a:bodyPr/>
          <a:lstStyle>
            <a:lvl1pPr marL="0" indent="0">
              <a:buNone/>
              <a:defRPr sz="4800"/>
            </a:lvl1pPr>
            <a:lvl2pPr marL="1371617" indent="0">
              <a:buNone/>
              <a:defRPr sz="4200"/>
            </a:lvl2pPr>
            <a:lvl3pPr marL="2743234" indent="0">
              <a:buNone/>
              <a:defRPr sz="3600"/>
            </a:lvl3pPr>
            <a:lvl4pPr marL="4114851" indent="0">
              <a:buNone/>
              <a:defRPr sz="3000"/>
            </a:lvl4pPr>
            <a:lvl5pPr marL="5486469" indent="0">
              <a:buNone/>
              <a:defRPr sz="3000"/>
            </a:lvl5pPr>
            <a:lvl6pPr marL="6858086" indent="0">
              <a:buNone/>
              <a:defRPr sz="3000"/>
            </a:lvl6pPr>
            <a:lvl7pPr marL="8229703" indent="0">
              <a:buNone/>
              <a:defRPr sz="3000"/>
            </a:lvl7pPr>
            <a:lvl8pPr marL="9601320" indent="0">
              <a:buNone/>
              <a:defRPr sz="3000"/>
            </a:lvl8pPr>
            <a:lvl9pPr marL="10972937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7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98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1460500"/>
            <a:ext cx="5915025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1460500"/>
            <a:ext cx="17402175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2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1460506"/>
            <a:ext cx="236601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7302500"/>
            <a:ext cx="236601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25425406"/>
            <a:ext cx="6172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D2A03-21FB-4445-B0CA-50857B6CED0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25425406"/>
            <a:ext cx="92583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25425406"/>
            <a:ext cx="6172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4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743234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8" indent="-685808" algn="l" defTabSz="2743234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26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43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60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77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95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511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129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746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17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34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51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86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703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320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937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5F85EB46-AA92-9199-9659-30451F3A3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0358" y="3037638"/>
            <a:ext cx="2831690" cy="28316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076C3BB-6E0C-2F10-E1CB-204DB7FAE407}"/>
              </a:ext>
            </a:extLst>
          </p:cNvPr>
          <p:cNvSpPr txBox="1"/>
          <p:nvPr/>
        </p:nvSpPr>
        <p:spPr>
          <a:xfrm>
            <a:off x="3091673" y="5869328"/>
            <a:ext cx="12490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rrow: Right 1177">
            <a:extLst>
              <a:ext uri="{FF2B5EF4-FFF2-40B4-BE49-F238E27FC236}">
                <a16:creationId xmlns:a16="http://schemas.microsoft.com/office/drawing/2014/main" id="{CD54C96B-1FEA-9FCF-CAF6-623627C1C3E3}"/>
              </a:ext>
            </a:extLst>
          </p:cNvPr>
          <p:cNvSpPr/>
          <p:nvPr/>
        </p:nvSpPr>
        <p:spPr>
          <a:xfrm>
            <a:off x="5716020" y="4117873"/>
            <a:ext cx="4132829" cy="671219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37FEA2FF-7484-A763-D858-EBA3AA74D6CD}"/>
              </a:ext>
            </a:extLst>
          </p:cNvPr>
          <p:cNvSpPr/>
          <p:nvPr/>
        </p:nvSpPr>
        <p:spPr>
          <a:xfrm>
            <a:off x="4340733" y="459743"/>
            <a:ext cx="4324350" cy="2000250"/>
          </a:xfrm>
          <a:prstGeom prst="wedgeRoundRectCallout">
            <a:avLst>
              <a:gd name="adj1" fmla="val -49467"/>
              <a:gd name="adj2" fmla="val 77738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I want a heart simulation with defibrillation shown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2A4E1DC9-8843-BE88-CD5F-9F7AD05E5B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0952" y="2945461"/>
            <a:ext cx="2831690" cy="283169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61EA328-25DD-25FF-79BA-5D895F63C23C}"/>
              </a:ext>
            </a:extLst>
          </p:cNvPr>
          <p:cNvSpPr txBox="1"/>
          <p:nvPr/>
        </p:nvSpPr>
        <p:spPr>
          <a:xfrm>
            <a:off x="9987856" y="5777151"/>
            <a:ext cx="42778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Clarify Agent</a:t>
            </a:r>
            <a:endParaRPr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rrow: Right 1177">
            <a:extLst>
              <a:ext uri="{FF2B5EF4-FFF2-40B4-BE49-F238E27FC236}">
                <a16:creationId xmlns:a16="http://schemas.microsoft.com/office/drawing/2014/main" id="{DA8DCC93-C4BD-FE9B-6982-E23066F6A87D}"/>
              </a:ext>
            </a:extLst>
          </p:cNvPr>
          <p:cNvSpPr/>
          <p:nvPr/>
        </p:nvSpPr>
        <p:spPr>
          <a:xfrm>
            <a:off x="14404745" y="4117872"/>
            <a:ext cx="4132829" cy="671219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pic>
        <p:nvPicPr>
          <p:cNvPr id="16" name="图形 15">
            <a:extLst>
              <a:ext uri="{FF2B5EF4-FFF2-40B4-BE49-F238E27FC236}">
                <a16:creationId xmlns:a16="http://schemas.microsoft.com/office/drawing/2014/main" id="{209C0F29-BD2C-53F8-9799-2C7E8AA8E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08270" y="10647806"/>
            <a:ext cx="2831690" cy="283169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A5CC369-153F-799C-BCD8-F212311C89F2}"/>
              </a:ext>
            </a:extLst>
          </p:cNvPr>
          <p:cNvSpPr txBox="1"/>
          <p:nvPr/>
        </p:nvSpPr>
        <p:spPr>
          <a:xfrm>
            <a:off x="18398450" y="5777150"/>
            <a:ext cx="42778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Agent</a:t>
            </a:r>
            <a:endParaRPr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2FCB20-8024-B3F3-8E45-7EBBBBF4C975}"/>
              </a:ext>
            </a:extLst>
          </p:cNvPr>
          <p:cNvSpPr txBox="1"/>
          <p:nvPr/>
        </p:nvSpPr>
        <p:spPr>
          <a:xfrm>
            <a:off x="14193153" y="1871103"/>
            <a:ext cx="42778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a cardiac simulation using the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FK 3V-SIM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model, initiating … with the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S1-S2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…to induce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chaotic spiral wave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rrow: Right 1177">
            <a:extLst>
              <a:ext uri="{FF2B5EF4-FFF2-40B4-BE49-F238E27FC236}">
                <a16:creationId xmlns:a16="http://schemas.microsoft.com/office/drawing/2014/main" id="{3FC846C7-16C6-2419-7896-59C71EF310A8}"/>
              </a:ext>
            </a:extLst>
          </p:cNvPr>
          <p:cNvSpPr/>
          <p:nvPr/>
        </p:nvSpPr>
        <p:spPr>
          <a:xfrm rot="5400000">
            <a:off x="18608498" y="8232050"/>
            <a:ext cx="3857781" cy="671219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pic>
        <p:nvPicPr>
          <p:cNvPr id="22" name="图形 21">
            <a:extLst>
              <a:ext uri="{FF2B5EF4-FFF2-40B4-BE49-F238E27FC236}">
                <a16:creationId xmlns:a16="http://schemas.microsoft.com/office/drawing/2014/main" id="{BEF857EA-ACB7-1A88-602F-A6C34B3E4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73946" y="3190038"/>
            <a:ext cx="2831690" cy="283169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C9B84A7-2F95-0B89-2F02-52102A2409B2}"/>
              </a:ext>
            </a:extLst>
          </p:cNvPr>
          <p:cNvSpPr txBox="1"/>
          <p:nvPr/>
        </p:nvSpPr>
        <p:spPr>
          <a:xfrm>
            <a:off x="18537574" y="13539718"/>
            <a:ext cx="42778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Agent</a:t>
            </a:r>
            <a:endParaRPr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EB7A6A6-3B91-5431-B5B4-00C8513EFF7B}"/>
              </a:ext>
            </a:extLst>
          </p:cNvPr>
          <p:cNvSpPr txBox="1"/>
          <p:nvPr/>
        </p:nvSpPr>
        <p:spPr>
          <a:xfrm>
            <a:off x="20689791" y="6676626"/>
            <a:ext cx="60950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FK model</a:t>
            </a:r>
          </a:p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Default (set 4)</a:t>
            </a:r>
          </a:p>
          <a:p>
            <a:pPr algn="ctr"/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dt,ds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Default</a:t>
            </a:r>
          </a:p>
          <a:p>
            <a:pPr algn="ctr"/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to use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S1-S2, screenshot, simulation running</a:t>
            </a:r>
          </a:p>
        </p:txBody>
      </p:sp>
      <p:sp>
        <p:nvSpPr>
          <p:cNvPr id="32" name="Arrow: Right 1177">
            <a:extLst>
              <a:ext uri="{FF2B5EF4-FFF2-40B4-BE49-F238E27FC236}">
                <a16:creationId xmlns:a16="http://schemas.microsoft.com/office/drawing/2014/main" id="{3BDC19A4-EEAE-07BF-234E-BDFA63C4A01E}"/>
              </a:ext>
            </a:extLst>
          </p:cNvPr>
          <p:cNvSpPr/>
          <p:nvPr/>
        </p:nvSpPr>
        <p:spPr>
          <a:xfrm rot="18477413">
            <a:off x="16736261" y="16784113"/>
            <a:ext cx="3141497" cy="540933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accent2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 dirty="0"/>
          </a:p>
        </p:txBody>
      </p:sp>
      <p:sp>
        <p:nvSpPr>
          <p:cNvPr id="33" name="Arrow: Right 1177">
            <a:extLst>
              <a:ext uri="{FF2B5EF4-FFF2-40B4-BE49-F238E27FC236}">
                <a16:creationId xmlns:a16="http://schemas.microsoft.com/office/drawing/2014/main" id="{9BFB5885-1043-89D3-3DBE-075E27BD9753}"/>
              </a:ext>
            </a:extLst>
          </p:cNvPr>
          <p:cNvSpPr/>
          <p:nvPr/>
        </p:nvSpPr>
        <p:spPr>
          <a:xfrm rot="16200000">
            <a:off x="19002662" y="17123881"/>
            <a:ext cx="3141497" cy="540933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accent2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 dirty="0"/>
          </a:p>
        </p:txBody>
      </p:sp>
      <p:sp>
        <p:nvSpPr>
          <p:cNvPr id="34" name="Arrow: Right 1177">
            <a:extLst>
              <a:ext uri="{FF2B5EF4-FFF2-40B4-BE49-F238E27FC236}">
                <a16:creationId xmlns:a16="http://schemas.microsoft.com/office/drawing/2014/main" id="{42D1F43A-61B7-B8A2-0FA0-1FA9A5420DA5}"/>
              </a:ext>
            </a:extLst>
          </p:cNvPr>
          <p:cNvSpPr/>
          <p:nvPr/>
        </p:nvSpPr>
        <p:spPr>
          <a:xfrm rot="14536514">
            <a:off x="21105584" y="16840990"/>
            <a:ext cx="3141497" cy="540933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accent2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EE5F3A8-FCCE-F9A0-98B9-8613D6934BF8}"/>
              </a:ext>
            </a:extLst>
          </p:cNvPr>
          <p:cNvSpPr txBox="1"/>
          <p:nvPr/>
        </p:nvSpPr>
        <p:spPr>
          <a:xfrm>
            <a:off x="14907853" y="18318765"/>
            <a:ext cx="4277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Base_model.html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6729887-0F19-DFC5-4F6F-91EEEA314FE1}"/>
              </a:ext>
            </a:extLst>
          </p:cNvPr>
          <p:cNvSpPr txBox="1"/>
          <p:nvPr/>
        </p:nvSpPr>
        <p:spPr>
          <a:xfrm>
            <a:off x="18398450" y="19189936"/>
            <a:ext cx="4277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S1_S2_init.js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C4AEDCE-855A-50FF-172E-9F4D43172889}"/>
              </a:ext>
            </a:extLst>
          </p:cNvPr>
          <p:cNvSpPr txBox="1"/>
          <p:nvPr/>
        </p:nvSpPr>
        <p:spPr>
          <a:xfrm>
            <a:off x="21961086" y="18687920"/>
            <a:ext cx="4277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Plot_tip.js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Arrow: Right 1177">
            <a:extLst>
              <a:ext uri="{FF2B5EF4-FFF2-40B4-BE49-F238E27FC236}">
                <a16:creationId xmlns:a16="http://schemas.microsoft.com/office/drawing/2014/main" id="{0FF06BC7-3C67-8683-6B08-6AFE4F08C1FC}"/>
              </a:ext>
            </a:extLst>
          </p:cNvPr>
          <p:cNvSpPr/>
          <p:nvPr/>
        </p:nvSpPr>
        <p:spPr>
          <a:xfrm rot="16200000">
            <a:off x="19867102" y="14708977"/>
            <a:ext cx="1340571" cy="540933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accent2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254AF09-F53C-EE63-73B9-588C3A1588BF}"/>
              </a:ext>
            </a:extLst>
          </p:cNvPr>
          <p:cNvSpPr txBox="1"/>
          <p:nvPr/>
        </p:nvSpPr>
        <p:spPr>
          <a:xfrm>
            <a:off x="19801019" y="14667764"/>
            <a:ext cx="4277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 Skills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图形 40">
            <a:extLst>
              <a:ext uri="{FF2B5EF4-FFF2-40B4-BE49-F238E27FC236}">
                <a16:creationId xmlns:a16="http://schemas.microsoft.com/office/drawing/2014/main" id="{0D2F98E7-667B-F6C1-49AF-CED829D144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482502" y="19394471"/>
            <a:ext cx="1235050" cy="1235050"/>
          </a:xfrm>
          <a:prstGeom prst="rect">
            <a:avLst/>
          </a:prstGeom>
        </p:spPr>
      </p:pic>
      <p:pic>
        <p:nvPicPr>
          <p:cNvPr id="43" name="图形 42">
            <a:extLst>
              <a:ext uri="{FF2B5EF4-FFF2-40B4-BE49-F238E27FC236}">
                <a16:creationId xmlns:a16="http://schemas.microsoft.com/office/drawing/2014/main" id="{264F4C53-0137-AB07-88FF-FEDE41C8BA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271501" y="18729604"/>
            <a:ext cx="1358076" cy="1358076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0C4D1D7E-6501-26A4-7BBE-BE4B66DB2D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997477" y="19793585"/>
            <a:ext cx="1358076" cy="1358076"/>
          </a:xfrm>
          <a:prstGeom prst="rect">
            <a:avLst/>
          </a:prstGeom>
        </p:spPr>
      </p:pic>
      <p:sp>
        <p:nvSpPr>
          <p:cNvPr id="45" name="Arrow: Right 1177">
            <a:extLst>
              <a:ext uri="{FF2B5EF4-FFF2-40B4-BE49-F238E27FC236}">
                <a16:creationId xmlns:a16="http://schemas.microsoft.com/office/drawing/2014/main" id="{19E13A38-13FE-429A-FEF5-4DD48000BA74}"/>
              </a:ext>
            </a:extLst>
          </p:cNvPr>
          <p:cNvSpPr/>
          <p:nvPr/>
        </p:nvSpPr>
        <p:spPr>
          <a:xfrm rot="10800000">
            <a:off x="14595245" y="11888714"/>
            <a:ext cx="4132829" cy="671219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657B4A09-DAB7-F0F3-23B5-BAD6DCB8BD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8059" y="10647804"/>
            <a:ext cx="2831690" cy="283169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9AC1DD58-D890-3A7D-6086-BE60FD2D07F5}"/>
              </a:ext>
            </a:extLst>
          </p:cNvPr>
          <p:cNvSpPr txBox="1"/>
          <p:nvPr/>
        </p:nvSpPr>
        <p:spPr>
          <a:xfrm>
            <a:off x="10317363" y="13539716"/>
            <a:ext cx="42778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Agent</a:t>
            </a:r>
            <a:endParaRPr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Arrow: Right 1177">
            <a:extLst>
              <a:ext uri="{FF2B5EF4-FFF2-40B4-BE49-F238E27FC236}">
                <a16:creationId xmlns:a16="http://schemas.microsoft.com/office/drawing/2014/main" id="{60042063-64A4-7B2A-3586-BB15C43EC3F5}"/>
              </a:ext>
            </a:extLst>
          </p:cNvPr>
          <p:cNvSpPr/>
          <p:nvPr/>
        </p:nvSpPr>
        <p:spPr>
          <a:xfrm rot="10800000">
            <a:off x="5716020" y="11888715"/>
            <a:ext cx="4132829" cy="671219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pic>
        <p:nvPicPr>
          <p:cNvPr id="50" name="图片 49" descr="卡通人物&#10;&#10;AI 生成的内容可能不正确。">
            <a:extLst>
              <a:ext uri="{FF2B5EF4-FFF2-40B4-BE49-F238E27FC236}">
                <a16:creationId xmlns:a16="http://schemas.microsoft.com/office/drawing/2014/main" id="{62E103F8-6649-AE01-F0FC-1503D1CE9A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801" y="10352902"/>
            <a:ext cx="2658247" cy="2658247"/>
          </a:xfrm>
          <a:prstGeom prst="rect">
            <a:avLst/>
          </a:prstGeom>
        </p:spPr>
      </p:pic>
      <p:pic>
        <p:nvPicPr>
          <p:cNvPr id="54" name="图片 53" descr="图片包含 图标&#10;&#10;AI 生成的内容可能不正确。">
            <a:extLst>
              <a:ext uri="{FF2B5EF4-FFF2-40B4-BE49-F238E27FC236}">
                <a16:creationId xmlns:a16="http://schemas.microsoft.com/office/drawing/2014/main" id="{68E51F4A-3747-5698-92E1-F2BB16AC9E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2769" y="13280230"/>
            <a:ext cx="2901179" cy="377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36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7ADFE72-E6D9-3198-0E84-317FF7E31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792515"/>
              </p:ext>
            </p:extLst>
          </p:nvPr>
        </p:nvGraphicFramePr>
        <p:xfrm>
          <a:off x="1205346" y="1967345"/>
          <a:ext cx="25783309" cy="21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0436">
                  <a:extLst>
                    <a:ext uri="{9D8B030D-6E8A-4147-A177-3AD203B41FA5}">
                      <a16:colId xmlns:a16="http://schemas.microsoft.com/office/drawing/2014/main" val="2790202398"/>
                    </a:ext>
                  </a:extLst>
                </a:gridCol>
                <a:gridCol w="8340436">
                  <a:extLst>
                    <a:ext uri="{9D8B030D-6E8A-4147-A177-3AD203B41FA5}">
                      <a16:colId xmlns:a16="http://schemas.microsoft.com/office/drawing/2014/main" val="3192816750"/>
                    </a:ext>
                  </a:extLst>
                </a:gridCol>
                <a:gridCol w="9102437">
                  <a:extLst>
                    <a:ext uri="{9D8B030D-6E8A-4147-A177-3AD203B41FA5}">
                      <a16:colId xmlns:a16="http://schemas.microsoft.com/office/drawing/2014/main" val="1439732645"/>
                    </a:ext>
                  </a:extLst>
                </a:gridCol>
              </a:tblGrid>
              <a:tr h="3168000">
                <a:tc>
                  <a:txBody>
                    <a:bodyPr/>
                    <a:lstStyle/>
                    <a:p>
                      <a:pPr algn="l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Multi-Agent Workflow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Original Gemini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180429"/>
                  </a:ext>
                </a:extLst>
              </a:tr>
              <a:tr h="6096000">
                <a:tc>
                  <a:txBody>
                    <a:bodyPr/>
                    <a:lstStyle/>
                    <a:p>
                      <a:pPr algn="l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 want you to code the 2D FK 3V-SIM model where i can stimulate tissue by clicking it. give me the html file so i can run it in browser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914366"/>
                  </a:ext>
                </a:extLst>
              </a:tr>
              <a:tr h="6096000">
                <a:tc>
                  <a:txBody>
                    <a:bodyPr/>
                    <a:lstStyle/>
                    <a:p>
                      <a:pPr marL="0" marR="0" lvl="0" indent="0" algn="l" defTabSz="27432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 want to see the fibrillation in 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FK 3V-SIM model, give me a simulation html file which can generate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fibrillation and show me the pic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978351"/>
                  </a:ext>
                </a:extLst>
              </a:tr>
              <a:tr h="609600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 want you to replicate the Fig 1D in the paper I upload.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129459"/>
                  </a:ext>
                </a:extLst>
              </a:tr>
            </a:tbl>
          </a:graphicData>
        </a:graphic>
      </p:graphicFrame>
      <p:pic>
        <p:nvPicPr>
          <p:cNvPr id="6" name="图片 5" descr="图形用户界面, 文本&#10;&#10;AI 生成的内容可能不正确。">
            <a:extLst>
              <a:ext uri="{FF2B5EF4-FFF2-40B4-BE49-F238E27FC236}">
                <a16:creationId xmlns:a16="http://schemas.microsoft.com/office/drawing/2014/main" id="{A5F2457B-774E-AD81-54E6-0C8B6B185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4359" y="5209308"/>
            <a:ext cx="5415441" cy="5868547"/>
          </a:xfrm>
          <a:prstGeom prst="rect">
            <a:avLst/>
          </a:prstGeom>
        </p:spPr>
      </p:pic>
      <p:pic>
        <p:nvPicPr>
          <p:cNvPr id="8" name="图片 7" descr="图形用户界面, 图表&#10;&#10;AI 生成的内容可能不正确。">
            <a:extLst>
              <a:ext uri="{FF2B5EF4-FFF2-40B4-BE49-F238E27FC236}">
                <a16:creationId xmlns:a16="http://schemas.microsoft.com/office/drawing/2014/main" id="{817306B6-D19A-7E8A-E976-C076EFF64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844" y="6123709"/>
            <a:ext cx="8168311" cy="3103270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75EA612B-BBFC-3AA2-4C13-70AE2D4B6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844" y="12007808"/>
            <a:ext cx="8168312" cy="4764849"/>
          </a:xfrm>
          <a:prstGeom prst="rect">
            <a:avLst/>
          </a:prstGeom>
        </p:spPr>
      </p:pic>
      <p:pic>
        <p:nvPicPr>
          <p:cNvPr id="12" name="图片 11" descr="形状&#10;&#10;AI 生成的内容可能不正确。">
            <a:extLst>
              <a:ext uri="{FF2B5EF4-FFF2-40B4-BE49-F238E27FC236}">
                <a16:creationId xmlns:a16="http://schemas.microsoft.com/office/drawing/2014/main" id="{CCBCA531-82A0-F4BA-2CED-A8878370D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9162" y="11851043"/>
            <a:ext cx="4252917" cy="5078377"/>
          </a:xfrm>
          <a:prstGeom prst="rect">
            <a:avLst/>
          </a:prstGeom>
        </p:spPr>
      </p:pic>
      <p:pic>
        <p:nvPicPr>
          <p:cNvPr id="14" name="图片 13" descr="图片包含 图标&#10;&#10;AI 生成的内容可能不正确。">
            <a:extLst>
              <a:ext uri="{FF2B5EF4-FFF2-40B4-BE49-F238E27FC236}">
                <a16:creationId xmlns:a16="http://schemas.microsoft.com/office/drawing/2014/main" id="{F74EB562-7E16-AB01-DE3E-73EC6F51A9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296" r="8037"/>
          <a:stretch>
            <a:fillRect/>
          </a:stretch>
        </p:blipFill>
        <p:spPr>
          <a:xfrm>
            <a:off x="22296127" y="11780629"/>
            <a:ext cx="4252918" cy="507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69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0484fb-39aa-440e-a7f6-ce6b10828c5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4E12A0CEF6A047A2ED39F3719482AA" ma:contentTypeVersion="16" ma:contentTypeDescription="Create a new document." ma:contentTypeScope="" ma:versionID="0e1d78e459d7e83271e38b16816bc458">
  <xsd:schema xmlns:xsd="http://www.w3.org/2001/XMLSchema" xmlns:xs="http://www.w3.org/2001/XMLSchema" xmlns:p="http://schemas.microsoft.com/office/2006/metadata/properties" xmlns:ns3="9dd65258-3995-4e6a-8867-aed9b661a0cf" xmlns:ns4="bf0484fb-39aa-440e-a7f6-ce6b10828c56" targetNamespace="http://schemas.microsoft.com/office/2006/metadata/properties" ma:root="true" ma:fieldsID="177a938d7b189453f861ba34050ac94d" ns3:_="" ns4:_="">
    <xsd:import namespace="9dd65258-3995-4e6a-8867-aed9b661a0cf"/>
    <xsd:import namespace="bf0484fb-39aa-440e-a7f6-ce6b10828c5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_activity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Location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d65258-3995-4e6a-8867-aed9b661a0c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0484fb-39aa-440e-a7f6-ce6b10828c56" elementFormDefault="qualified">
    <xsd:import namespace="http://schemas.microsoft.com/office/2006/documentManagement/types"/>
    <xsd:import namespace="http://schemas.microsoft.com/office/infopath/2007/PartnerControls"/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6CBD86-C09C-470A-88E8-4B08832346BE}">
  <ds:schemaRefs>
    <ds:schemaRef ds:uri="http://schemas.microsoft.com/office/infopath/2007/PartnerControls"/>
    <ds:schemaRef ds:uri="http://schemas.microsoft.com/office/2006/documentManagement/types"/>
    <ds:schemaRef ds:uri="bf0484fb-39aa-440e-a7f6-ce6b10828c56"/>
    <ds:schemaRef ds:uri="9dd65258-3995-4e6a-8867-aed9b661a0cf"/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204957A-1A48-4EA0-8205-DDDFF95B0C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FCC86B-1F9D-4A3C-8003-88B96C4693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d65258-3995-4e6a-8867-aed9b661a0cf"/>
    <ds:schemaRef ds:uri="bf0484fb-39aa-440e-a7f6-ce6b10828c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627</TotalTime>
  <Words>159</Words>
  <Application>Microsoft Office PowerPoint</Application>
  <PresentationFormat>自定义</PresentationFormat>
  <Paragraphs>21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演示文稿</vt:lpstr>
      <vt:lpstr>PowerPoint 演示文稿</vt:lpstr>
    </vt:vector>
  </TitlesOfParts>
  <Company>Georgia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An, Xiaodong</dc:creator>
  <cp:lastModifiedBy>晓东 安</cp:lastModifiedBy>
  <cp:revision>14</cp:revision>
  <dcterms:created xsi:type="dcterms:W3CDTF">2025-11-19T19:48:52Z</dcterms:created>
  <dcterms:modified xsi:type="dcterms:W3CDTF">2026-01-29T06:47:15Z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0x0101006A4E12A0CEF6A047A2ED39F3719482AA</vt:lpwstr>
  </property>
</Properties>
</file>